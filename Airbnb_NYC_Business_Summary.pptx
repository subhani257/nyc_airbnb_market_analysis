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price ($/night)</c:v>
                </c:pt>
              </c:strCache>
            </c:strRef>
          </c:tx>
          <c:spPr>
            <a:solidFill>
              <a:srgbClr val="1E3357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3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55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55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557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557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Manhattan</c:v>
                  </c:pt>
                  <c:pt idx="1">
                    <c:v>Brooklyn</c:v>
                  </c:pt>
                  <c:pt idx="2">
                    <c:v>Queens</c:v>
                  </c:pt>
                  <c:pt idx="3">
                    <c:v>Staten Island</c:v>
                  </c:pt>
                  <c:pt idx="4">
                    <c:v>Bronx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240.56</c:v>
                </c:pt>
                <c:pt idx="1">
                  <c:v>151.44</c:v>
                </c:pt>
                <c:pt idx="2">
                  <c:v>120.04</c:v>
                </c:pt>
                <c:pt idx="3">
                  <c:v>107.3</c:v>
                </c:pt>
                <c:pt idx="4">
                  <c:v>106.39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Listings</c:v>
                </c:pt>
              </c:strCache>
            </c:strRef>
          </c:tx>
          <c:spPr>
            <a:solidFill>
              <a:srgbClr val="3A55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55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55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55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Single listing
(80.6% of hosts)</c:v>
                  </c:pt>
                  <c:pt idx="1">
                    <c:v>Small
2–5</c:v>
                  </c:pt>
                  <c:pt idx="2">
                    <c:v>Medium
6–20</c:v>
                  </c:pt>
                  <c:pt idx="3">
                    <c:v>Large/commercial
20+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13279</c:v>
                </c:pt>
                <c:pt idx="1">
                  <c:v>6923</c:v>
                </c:pt>
                <c:pt idx="2">
                  <c:v>3715</c:v>
                </c:pt>
                <c:pt idx="3">
                  <c:v>6342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C7D0D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(accuracy, higher is better)</c:v>
                </c:pt>
              </c:strCache>
            </c:strRef>
          </c:tx>
          <c:spPr>
            <a:solidFill>
              <a:srgbClr val="3A557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55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557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
Regression</c:v>
                  </c:pt>
                  <c:pt idx="1">
                    <c:v>Random
Forest</c:v>
                  </c:pt>
                  <c:pt idx="2">
                    <c:v>XGBoost
(default)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0.277</c:v>
                </c:pt>
                <c:pt idx="1">
                  <c:v>0.564</c:v>
                </c:pt>
                <c:pt idx="2">
                  <c:v>0.443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B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3657600" cy="3657600"/>
          </a:xfrm>
          <a:prstGeom prst="ellipse">
            <a:avLst/>
          </a:prstGeom>
          <a:solidFill>
            <a:srgbClr val="1E3357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4206240"/>
            <a:ext cx="2926080" cy="2926080"/>
          </a:xfrm>
          <a:prstGeom prst="ellipse">
            <a:avLst/>
          </a:prstGeom>
          <a:solidFill>
            <a:srgbClr val="3A557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MARKET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York City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says about pricing, market structure, and the biggest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a platform operator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30,259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listings analyzed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08960" y="4709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990K+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reviews mined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77840" y="4709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11.1M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calendar records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Inside Airbnb NYC snapshot, 14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data-backed takeaways from a full pipeline: ingestion, cleaning, statistics, machine learning, and NLP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557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09928"/>
            <a:ext cx="457200" cy="457200"/>
          </a:xfrm>
          <a:prstGeom prst="ellipse">
            <a:avLst/>
          </a:prstGeom>
          <a:solidFill>
            <a:srgbClr val="13213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size drive price — not reviews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 correlates with price at just r = 0.041. Accommodates, bathrooms, and bedrooms matter far more.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41648" y="150876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557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42816" y="1709928"/>
            <a:ext cx="457200" cy="457200"/>
          </a:xfrm>
          <a:prstGeom prst="ellipse">
            <a:avLst/>
          </a:prstGeom>
          <a:solidFill>
            <a:srgbClr val="13213A"/>
          </a:solidFill>
          <a:ln/>
        </p:spPr>
      </p:sp>
      <p:sp>
        <p:nvSpPr>
          <p:cNvPr id="11" name="Text 9"/>
          <p:cNvSpPr/>
          <p:nvPr/>
        </p:nvSpPr>
        <p:spPr>
          <a:xfrm>
            <a:off x="4242816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70248" y="228600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is a different market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70248" y="288036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 is more than 2x the Bronx ($240.56 vs. $106.39/night) — statistically confirmed (p &lt; 0.001).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26096" y="150876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557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27264" y="1709928"/>
            <a:ext cx="457200" cy="457200"/>
          </a:xfrm>
          <a:prstGeom prst="ellipse">
            <a:avLst/>
          </a:prstGeom>
          <a:solidFill>
            <a:srgbClr val="13213A"/>
          </a:solidFill>
          <a:ln/>
        </p:spPr>
      </p:sp>
      <p:sp>
        <p:nvSpPr>
          <p:cNvPr id="16" name="Text 14"/>
          <p:cNvSpPr/>
          <p:nvPr/>
        </p:nvSpPr>
        <p:spPr>
          <a:xfrm>
            <a:off x="7827264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54696" y="228600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is concentrated, not peer-to-peer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54696" y="288036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13.8% of hosts control half of all listings; the top 1% (164 hosts) control a quarter of supply.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557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270248"/>
            <a:ext cx="457200" cy="457200"/>
          </a:xfrm>
          <a:prstGeom prst="ellipse">
            <a:avLst/>
          </a:prstGeom>
          <a:solidFill>
            <a:srgbClr val="13213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" y="484632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explains price well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544068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model predicts nightly price within ~$117, reaching R² = 0.564 on unseen listings.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41648" y="406908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557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42816" y="4270248"/>
            <a:ext cx="457200" cy="457200"/>
          </a:xfrm>
          <a:prstGeom prst="ellipse">
            <a:avLst/>
          </a:prstGeom>
          <a:solidFill>
            <a:srgbClr val="13213A"/>
          </a:solidFill>
          <a:ln/>
        </p:spPr>
      </p:sp>
      <p:sp>
        <p:nvSpPr>
          <p:cNvPr id="26" name="Text 24"/>
          <p:cNvSpPr/>
          <p:nvPr/>
        </p:nvSpPr>
        <p:spPr>
          <a:xfrm>
            <a:off x="4242816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70248" y="484632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distinct market segments exist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270248" y="544068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28-listing ultra-luxury tier averaging $4,967/night to a 4,000+ listing mainstream core.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26096" y="406908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557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27264" y="4270248"/>
            <a:ext cx="457200" cy="457200"/>
          </a:xfrm>
          <a:prstGeom prst="ellipse">
            <a:avLst/>
          </a:prstGeom>
          <a:solidFill>
            <a:srgbClr val="13213A"/>
          </a:solidFill>
          <a:ln/>
        </p:spPr>
      </p:sp>
      <p:sp>
        <p:nvSpPr>
          <p:cNvPr id="31" name="Text 29"/>
          <p:cNvSpPr/>
          <p:nvPr/>
        </p:nvSpPr>
        <p:spPr>
          <a:xfrm>
            <a:off x="7827264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854696" y="484632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sentiment adds a signal ratings miss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854696" y="544068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text sentiment tracks star ratings only moderately (r = 0.270) — text captures nuance ratings compress.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Market Intelligence — NYC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Business Stakeholders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Manhattan Commands a Clear Price Premium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nightly price by borough — the gap is large and statistically confirmed (Kruskal-Wallis, p &lt; 0.001)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675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1732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13213A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6916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20116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one-size city-wide “suggested price” underprices Manhattan hosts and overprices the Bronx.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0" y="30632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strong: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Manhattan's 95% bootstrap interval ($368–$397 for its mean) doesn't overlap any other borough.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4206240"/>
            <a:ext cx="3611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beats distance: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distance from Times Square barely predicts price (r = -0.178) — NYC has multiple high-value hubs (Manhattan's spine, Williamsburg/Greenpoint), not one center.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Market Intelligence — NYC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Business Stakeholders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Professionalized Market, Not Purely Peer-to-Peer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portfolio size vs. share of listings controlled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5544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13.79%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680960" y="202996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hosts control 50% of all listings citywide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80960" y="2788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164 hosts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680960" y="326440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1%) control 25% of total supply — an average of dozens of units each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40233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hosts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680960" y="449884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20+ listings each, averaging 75 units per commercial operator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0" y="52578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read: this looks like a professionalized short-term rental market with a long tail of casual hosts — not a purely peer-to-peer marketplace.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Market Intelligence — NYC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Business Stakeholders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Machine Learning Model Predicts Price Within ~$117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modeling approaches compared on the same held-out listings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463040"/>
            <a:ext cx="4846320" cy="4480560"/>
          </a:xfrm>
          <a:prstGeom prst="roundRect">
            <a:avLst>
              <a:gd name="adj" fmla="val 1633"/>
            </a:avLst>
          </a:prstGeom>
          <a:solidFill>
            <a:srgbClr val="13213A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1737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THE WINNER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78040" y="20574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$116.79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per night, explaining 56.4% of price variation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178040" y="3063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the model's predictions: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78040" y="342900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Minimum-stay policy (short-term vs. 30-night listings)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 count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location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capacity &amp; bedrooms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review rating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78040" y="52578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listings are the hardest to price precisely — their variance comes from factors like exact micro-location and building prestige that raw data doesn't capture.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Market Intelligence — NYC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Business Stakeholders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Distinct Market Segments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clustering on price, capacity, occupancy, and rating reveals segments that a single citywide view hides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011680" cy="42062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557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2011680" cy="109728"/>
          </a:xfrm>
          <a:prstGeom prst="rect">
            <a:avLst/>
          </a:prstGeom>
          <a:solidFill>
            <a:srgbClr val="3A557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83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mid-market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$241.56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price/night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3657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4,076 listings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9776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market's core, well-performing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33472" y="1508760"/>
            <a:ext cx="2011680" cy="42062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5578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33472" y="1508760"/>
            <a:ext cx="2011680" cy="109728"/>
          </a:xfrm>
          <a:prstGeom prst="rect">
            <a:avLst/>
          </a:prstGeom>
          <a:solidFill>
            <a:srgbClr val="3A5578"/>
          </a:solidFill>
          <a:ln/>
        </p:spPr>
      </p:sp>
      <p:sp>
        <p:nvSpPr>
          <p:cNvPr id="13" name="Text 11"/>
          <p:cNvSpPr/>
          <p:nvPr/>
        </p:nvSpPr>
        <p:spPr>
          <a:xfrm>
            <a:off x="2770632" y="1783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(smaller units)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70632" y="2743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$241.06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70632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price/night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70632" y="3657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2,911 listings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70632" y="39776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price, smaller unit sizes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9744" y="1508760"/>
            <a:ext cx="2011680" cy="42062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557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9744" y="1508760"/>
            <a:ext cx="2011680" cy="109728"/>
          </a:xfrm>
          <a:prstGeom prst="rect">
            <a:avLst/>
          </a:prstGeom>
          <a:solidFill>
            <a:srgbClr val="1E3357"/>
          </a:solidFill>
          <a:ln/>
        </p:spPr>
      </p:sp>
      <p:sp>
        <p:nvSpPr>
          <p:cNvPr id="20" name="Text 18"/>
          <p:cNvSpPr/>
          <p:nvPr/>
        </p:nvSpPr>
        <p:spPr>
          <a:xfrm>
            <a:off x="4946904" y="1783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accommodations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46904" y="2743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$594.07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46904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price/night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46904" y="3657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1,185 listings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46904" y="39776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groups, premium price point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86016" y="1508760"/>
            <a:ext cx="2011680" cy="42062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5578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86016" y="1508760"/>
            <a:ext cx="2011680" cy="109728"/>
          </a:xfrm>
          <a:prstGeom prst="rect">
            <a:avLst/>
          </a:prstGeom>
          <a:solidFill>
            <a:srgbClr val="8A97AC"/>
          </a:solidFill>
          <a:ln/>
        </p:spPr>
      </p:sp>
      <p:sp>
        <p:nvSpPr>
          <p:cNvPr id="27" name="Text 25"/>
          <p:cNvSpPr/>
          <p:nvPr/>
        </p:nvSpPr>
        <p:spPr>
          <a:xfrm>
            <a:off x="7123176" y="1783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/ new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23176" y="2743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$220.79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23176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price/night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23176" y="3657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listings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23176" y="39776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occupancy &amp; low ratings — outreach candidate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62288" y="1508760"/>
            <a:ext cx="2011680" cy="42062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5578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62288" y="1508760"/>
            <a:ext cx="201168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9299448" y="1783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Ultra-luxury outlier tier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299448" y="2743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$4,967.46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299448" y="3246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price/night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299448" y="3657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listings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299448" y="39776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 count, high strategic value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Market Intelligence — NYC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Business Stakeholders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the Business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findings translate into 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1E3357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Borough-tiered pricing guidance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one city-wide “suggested price” with borough-specific benchmarks at listing creation.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41648" y="146304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1E3357"/>
          </a:solidFill>
          <a:ln/>
        </p:spPr>
      </p:sp>
      <p:sp>
        <p:nvSpPr>
          <p:cNvPr id="10" name="Shape 8"/>
          <p:cNvSpPr/>
          <p:nvPr/>
        </p:nvSpPr>
        <p:spPr>
          <a:xfrm>
            <a:off x="4270248" y="16916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270248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70248" y="224028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 for top commercial hosts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70248" y="283464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hosts control 25% of supply — a natural tier for dedicated partnership and churn protection.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26096" y="146304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1E3357"/>
          </a:solidFill>
          <a:ln/>
        </p:spPr>
      </p:sp>
      <p:sp>
        <p:nvSpPr>
          <p:cNvPr id="15" name="Shape 13"/>
          <p:cNvSpPr/>
          <p:nvPr/>
        </p:nvSpPr>
        <p:spPr>
          <a:xfrm>
            <a:off x="7854696" y="16916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854696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54696" y="224028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New-host pricing tool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54696" y="283464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in year 1–2 price ~28% above tenured hosts — likely inexperience, not strategy. Guide them with comps.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1E3357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2519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480060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Superhost occupancy paradox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39496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Superhosts rate higher but book less — understand whether the badge trades revenue for satisfaction.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41648" y="402336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1E3357"/>
          </a:solidFill>
          <a:ln/>
        </p:spPr>
      </p:sp>
      <p:sp>
        <p:nvSpPr>
          <p:cNvPr id="25" name="Shape 23"/>
          <p:cNvSpPr/>
          <p:nvPr/>
        </p:nvSpPr>
        <p:spPr>
          <a:xfrm>
            <a:off x="4270248" y="42519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4270248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70248" y="480060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long-minimum-stay concentration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70248" y="539496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30-night minimum dominates much of the calendar — worth a compliance review given local short-term rental rules.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26096" y="402336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1E3357"/>
          </a:solidFill>
          <a:ln/>
        </p:spPr>
      </p:sp>
      <p:sp>
        <p:nvSpPr>
          <p:cNvPr id="30" name="Shape 28"/>
          <p:cNvSpPr/>
          <p:nvPr/>
        </p:nvSpPr>
        <p:spPr>
          <a:xfrm>
            <a:off x="7854696" y="42519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54696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854696" y="480060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dashboard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54696" y="539496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analysis into a self-serve internal tool for pricing and market questions, replacing one-off requests.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Market Intelligence — NYC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Business Stakeholders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114800" cy="4114800"/>
          </a:xfrm>
          <a:prstGeom prst="ellipse">
            <a:avLst/>
          </a:prstGeom>
          <a:solidFill>
            <a:srgbClr val="13213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These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covers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Single-city deep dive (NYC), one Inside Airbnb snapshot (14 June 2026)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the host's listed rate — not a confirmed transaction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&amp; revenue figures are estimates from calendar availability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next steps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0" y="17830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pipeline to 2–3 additional cities for cross-market comparison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demand forecasting on the calendar time series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bias/fairness audit of the pricing model across neighborhoods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321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NYC's Airbnb market is a professionalized, location-driven business — where physical capacity and neighborhood matter more than reviews, a small share of hosts control a large share of supply, and machine learning can meaningfully support pricing and segmentation decisions.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Market Intelligence — NYC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Business Stakeholders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2026-07-13T05:12:52Z</dcterms:created>
  <dcterms:modified xsi:type="dcterms:W3CDTF">2026-07-13T05:12:52Z</dcterms:modified>
</cp:coreProperties>
</file>